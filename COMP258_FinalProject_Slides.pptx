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2743200" cy="6858000"/>
          </a:xfrm>
          <a:prstGeom prst="rect">
            <a:avLst/>
          </a:prstGeom>
          <a:solidFill>
            <a:srgbClr val="172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8686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COMP258  ·  Neural Networks  ·  Final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914400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Student Success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91440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A full-stack intelligent web app that forecasts</a:t>
            </a:r>
          </a:p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persistence, GPA, and at-risk status using deep 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82296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Group:  </a:t>
            </a:r>
            <a:r>
              <a:rPr lang="en-US" b="1" dirty="0">
                <a:solidFill>
                  <a:srgbClr val="FFFFFF"/>
                </a:solidFill>
                <a:latin typeface="Calibri"/>
              </a:rPr>
              <a:t>5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5758952"/>
            <a:ext cx="8229600" cy="683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dirty="0">
                <a:solidFill>
                  <a:srgbClr val="CBD5E1"/>
                </a:solidFill>
                <a:latin typeface="Calibri"/>
              </a:rPr>
              <a:t>Members:</a:t>
            </a:r>
            <a:r>
              <a:rPr lang="en-US" sz="1400" b="0" dirty="0">
                <a:solidFill>
                  <a:srgbClr val="CBD5E1"/>
                </a:solidFill>
                <a:latin typeface="Calibri"/>
              </a:rPr>
              <a:t> </a:t>
            </a:r>
          </a:p>
          <a:p>
            <a:pPr algn="l"/>
            <a:r>
              <a:rPr lang="en-US" sz="1400" b="0" dirty="0">
                <a:solidFill>
                  <a:srgbClr val="CBD5E1"/>
                </a:solidFill>
                <a:latin typeface="Calibri"/>
              </a:rPr>
              <a:t>Minh </a:t>
            </a:r>
            <a:r>
              <a:rPr lang="en-US" sz="1400" dirty="0">
                <a:solidFill>
                  <a:srgbClr val="CBD5E1"/>
                </a:solidFill>
                <a:latin typeface="Calibri"/>
              </a:rPr>
              <a:t>D</a:t>
            </a:r>
            <a:r>
              <a:rPr lang="en-US" sz="1400" b="0" dirty="0">
                <a:solidFill>
                  <a:srgbClr val="CBD5E1"/>
                </a:solidFill>
                <a:latin typeface="Calibri"/>
              </a:rPr>
              <a:t>oan Nguyen – 301413330</a:t>
            </a:r>
          </a:p>
          <a:p>
            <a:pPr algn="l"/>
            <a:endParaRPr sz="1400" b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76508" y="6569964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Presented in Week 14  ·  Centennial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731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4480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Problem &amp;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731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737360"/>
            <a:ext cx="4480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6888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46888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468880"/>
            <a:ext cx="731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468880"/>
            <a:ext cx="4480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46888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46888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468880"/>
            <a:ext cx="731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468880"/>
            <a:ext cx="4480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Neural Network Models (×4)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0040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731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200400"/>
            <a:ext cx="4480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Training Strategy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20040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320040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200400"/>
            <a:ext cx="731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200400"/>
            <a:ext cx="4480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Results &amp; 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3192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393192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3931920"/>
            <a:ext cx="731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931920"/>
            <a:ext cx="4480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Live Demo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93192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393192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3931920"/>
            <a:ext cx="731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931920"/>
            <a:ext cx="4480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Challenges &amp; Future 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Why predicting student outcomes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852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8521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Post-secondary institutions lose a meaningful share of first-year students.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Early identification of at-risk students enables timely intervention.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Instructors need lightweight, data-driven tools, not black-box dashboards.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Client asks for an admin-friendly app that turns existing data into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251460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901952"/>
            <a:ext cx="2514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1E3A8A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50592"/>
            <a:ext cx="2514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neural networks trained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7373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72600" y="1737360"/>
            <a:ext cx="251460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901952"/>
            <a:ext cx="2514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0EA5E9"/>
                </a:solidFill>
                <a:latin typeface="Calibri"/>
              </a:rPr>
              <a:t>~1,400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450592"/>
            <a:ext cx="2514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student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0632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75120" y="306324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227832"/>
            <a:ext cx="2514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14-15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76472"/>
            <a:ext cx="2514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features per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0632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72600" y="306324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3227832"/>
            <a:ext cx="2514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REST + 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776472"/>
            <a:ext cx="2514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full-stack delivery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Four prediction tasks delivered as one intelligent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09728" cy="2148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1005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400" b="1">
                <a:solidFill>
                  <a:srgbClr val="1E3A8A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920240"/>
            <a:ext cx="4023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First-Year Persistence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560320"/>
            <a:ext cx="402336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Binary classification: will this student continue after year 1?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109728" cy="21488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1005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400" b="1">
                <a:solidFill>
                  <a:srgbClr val="0EA5E9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20240"/>
            <a:ext cx="4023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Second-Term GPA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560320"/>
            <a:ext cx="402336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Regression from 1st-term GPA, HS marks and demographics.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8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109728" cy="21488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1005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400" b="1">
                <a:solidFill>
                  <a:srgbClr val="EF4444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251960"/>
            <a:ext cx="4023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At-Risk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4892040"/>
            <a:ext cx="402336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Flag students needing support (persistence = 0 OR GPA &lt; 2.0).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06908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4069080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206240"/>
            <a:ext cx="1005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400" b="1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251960"/>
            <a:ext cx="4023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Stacked Academic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892040"/>
            <a:ext cx="402336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Two-stage regression for an overall academic-performance score.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Centennial College student records (NDA-protected)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Input features (14-15 per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68580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 Academic:</a:t>
            </a:r>
            <a:r>
              <a:rPr sz="1400" b="0">
                <a:solidFill>
                  <a:srgbClr val="0F172A"/>
                </a:solidFill>
                <a:latin typeface="Calibri"/>
              </a:rPr>
              <a:t>  first / second term GPA, HS average, math score, English grade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 Program:</a:t>
            </a:r>
            <a:r>
              <a:rPr sz="1400" b="0">
                <a:solidFill>
                  <a:srgbClr val="0F172A"/>
                </a:solidFill>
                <a:latin typeface="Calibri"/>
              </a:rPr>
              <a:t>  school, funding, fast-track, coop, residency, prev. education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 Demographic:</a:t>
            </a:r>
            <a:r>
              <a:rPr sz="1400" b="0">
                <a:solidFill>
                  <a:srgbClr val="0F172A"/>
                </a:solidFill>
                <a:latin typeface="Calibri"/>
              </a:rPr>
              <a:t>  gender, age group, first language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•  Target labels:</a:t>
            </a:r>
            <a:r>
              <a:rPr sz="1400" b="0">
                <a:solidFill>
                  <a:srgbClr val="0F172A"/>
                </a:solidFill>
                <a:latin typeface="Calibri"/>
              </a:rPr>
              <a:t>  first-year persistence (0/1), GPA (0.0-4.5), derived at-risk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411480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89520" y="1737360"/>
            <a:ext cx="411480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4114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Calibri"/>
              </a:rPr>
              <a:t>Dataset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~1,400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51460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300" b="0">
                <a:solidFill>
                  <a:srgbClr val="64748B"/>
                </a:solidFill>
                <a:latin typeface="Calibri"/>
              </a:rPr>
              <a:t>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718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97180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300" b="0">
                <a:solidFill>
                  <a:srgbClr val="64748B"/>
                </a:solidFill>
                <a:latin typeface="Calibri"/>
              </a:rPr>
              <a:t>raw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4290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Numeric + Categorical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42900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300" b="0">
                <a:solidFill>
                  <a:srgbClr val="64748B"/>
                </a:solidFill>
                <a:latin typeface="Calibri"/>
              </a:rPr>
              <a:t>mixed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8862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Imputed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88620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300" b="0">
                <a:solidFill>
                  <a:srgbClr val="64748B"/>
                </a:solidFill>
                <a:latin typeface="Calibri"/>
              </a:rPr>
              <a:t>median / mode per column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3434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Standardized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34340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300" b="0">
                <a:solidFill>
                  <a:srgbClr val="64748B"/>
                </a:solidFill>
                <a:latin typeface="Calibri"/>
              </a:rPr>
              <a:t>StandardScaler on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8006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80 /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80060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300" b="0">
                <a:solidFill>
                  <a:srgbClr val="64748B"/>
                </a:solidFill>
                <a:latin typeface="Calibri"/>
              </a:rPr>
              <a:t>train / test split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Data Preparation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From raw CSV to model-ready tensors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4291" y="20116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4291" y="2011680"/>
            <a:ext cx="214884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291" y="219456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200" b="1">
                <a:solidFill>
                  <a:srgbClr val="0EA5E9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291" y="27889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" y="324612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Load CSV →</a:t>
            </a:r>
          </a:p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persist to 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7411" y="2880360"/>
            <a:ext cx="29260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2859" y="20116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62859" y="2011680"/>
            <a:ext cx="214884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62859" y="219456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200" b="1">
                <a:solidFill>
                  <a:srgbClr val="1E3A8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2859" y="27889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019" y="324612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Drop rows w/o target</a:t>
            </a:r>
          </a:p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Impute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5979" y="2880360"/>
            <a:ext cx="29260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1427" y="20116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1427" y="2011680"/>
            <a:ext cx="21488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1427" y="219456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1427" y="27889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8587" y="324612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80 / 20</a:t>
            </a:r>
          </a:p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stratified where possible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4547" y="2880360"/>
            <a:ext cx="29260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9995" y="20116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79995" y="2011680"/>
            <a:ext cx="214884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9995" y="219456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9995" y="27889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7155" y="324612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StandardScaler</a:t>
            </a:r>
          </a:p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fit on train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3115" y="2880360"/>
            <a:ext cx="29260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8563" y="201168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8563" y="2011680"/>
            <a:ext cx="214884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38563" y="219456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200" b="1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8563" y="27889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5723" y="3246120"/>
            <a:ext cx="1874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Keras Sequential</a:t>
            </a:r>
          </a:p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early-stopping + LR decay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Why imputation?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 Dropping any missing value collapsed the dataset from ~1,400 rows to ~500 — too little signal.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 We only drop rows whose target label is missing, then impute feature NaNs (median for numeric, mode for categorical).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 This preserves variance while keeping labels honest.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React SPA  →  Flask REST API  →  TensorFlow models +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3707" y="19202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3707" y="1920240"/>
            <a:ext cx="274320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3707" y="19202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2468880"/>
            <a:ext cx="23774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React 18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2880360"/>
            <a:ext cx="23774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Dashboard, Data Explorer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Prediction forms for each task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Model-metrics panel, Admin panel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Axios client · Chart.js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4067" y="19202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4067" y="1920240"/>
            <a:ext cx="2743200" cy="457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84067" y="19202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6947" y="2468880"/>
            <a:ext cx="23774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Flask + Blueprints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6947" y="2880360"/>
            <a:ext cx="23774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MVC: routes / services / models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/api/data · /api/predict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/api/models · /api/admin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CORS enabled for SPA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19202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4427" y="1920240"/>
            <a:ext cx="27432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4427" y="19202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ML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468880"/>
            <a:ext cx="23774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TensorFlow / Keras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880360"/>
            <a:ext cx="23774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4 Sequential neural nets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StandardScaler per model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.keras + .pkl artefacts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Retrain endpoint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4787" y="19202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44787" y="1920240"/>
            <a:ext cx="2743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44787" y="19202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7667" y="2468880"/>
            <a:ext cx="23774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SQLite + CSV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7667" y="2880360"/>
            <a:ext cx="23774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SQLAlchemy ORM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Student + PredictionLog tables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CSV re-import endpoint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•  Docker-ready (compose)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HTTP / JSON  ·  RESTful endpoints  ·  stateless 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Backend  ·  Flask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MVC blueprints with clear separation of concerns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Key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69494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249424"/>
            <a:ext cx="502920" cy="23774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31136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94560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/api/data/summary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94560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dataset stats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96896"/>
            <a:ext cx="502920" cy="23774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78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42032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/api/data/students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542032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paginated + filtered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89504"/>
            <a:ext cx="69494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2944368"/>
            <a:ext cx="502920" cy="23774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926080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889504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/api/data/correlation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89504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feature correlation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291840"/>
            <a:ext cx="50292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273552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236976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/api/predict/persistence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236976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classify persistence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84448"/>
            <a:ext cx="69494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639312"/>
            <a:ext cx="50292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621024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584448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/api/predict/gpa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584448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regress 2nd-term GPA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986784"/>
            <a:ext cx="50292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3968496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931920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/api/predict/atrisk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3931920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classify risk level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79392"/>
            <a:ext cx="69494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0" y="4334256"/>
            <a:ext cx="50292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431596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279392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/api/predict/pipeline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4279392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two-stage academic 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681728"/>
            <a:ext cx="502920" cy="23774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4663440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626864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/api/models/metrics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626864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live evaluation metrics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974336"/>
            <a:ext cx="69494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0" y="5029200"/>
            <a:ext cx="50292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4360" y="5010912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4974336"/>
            <a:ext cx="347472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nsolas"/>
              </a:rPr>
              <a:t>/api/admin/retrain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4974336"/>
            <a:ext cx="283464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re-train all four models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173736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Design patterns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2103120"/>
            <a:ext cx="41148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MVC:</a:t>
            </a:r>
            <a:r>
              <a:rPr sz="1300" b="0">
                <a:solidFill>
                  <a:srgbClr val="0F172A"/>
                </a:solidFill>
                <a:latin typeface="Calibri"/>
              </a:rPr>
              <a:t>  routes · services · models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Blueprint:</a:t>
            </a:r>
            <a:r>
              <a:rPr sz="1300" b="0">
                <a:solidFill>
                  <a:srgbClr val="0F172A"/>
                </a:solidFill>
                <a:latin typeface="Calibri"/>
              </a:rPr>
              <a:t>  one per concern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Repository:</a:t>
            </a:r>
            <a:r>
              <a:rPr sz="1300" b="0">
                <a:solidFill>
                  <a:srgbClr val="0F172A"/>
                </a:solidFill>
                <a:latin typeface="Calibri"/>
              </a:rPr>
              <a:t>  DB access via SQLAlchemy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DI:</a:t>
            </a:r>
            <a:r>
              <a:rPr sz="1300" b="0">
                <a:solidFill>
                  <a:srgbClr val="0F172A"/>
                </a:solidFill>
                <a:latin typeface="Calibri"/>
              </a:rPr>
              <a:t>  prediction_service injected at startup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Factory:</a:t>
            </a:r>
            <a:r>
              <a:rPr sz="1300" b="0">
                <a:solidFill>
                  <a:srgbClr val="0F172A"/>
                </a:solidFill>
                <a:latin typeface="Calibri"/>
              </a:rPr>
              <a:t>  create_app() builds the Flask app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Frontend  ·  React 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Component-driven, feature-organised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91440" cy="8686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home +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91440" cy="868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DataExplorer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860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filter students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82880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PersistencePrediction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860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task 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82880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81160" y="182880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192024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GPAPrediction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2860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task 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88036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288036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297180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AtRiskPrediction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3375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task 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288036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29000" y="2880360"/>
            <a:ext cx="91440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297180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AcademicPipeline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3375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two-stage demo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88036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55080" y="2880360"/>
            <a:ext cx="91440" cy="868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297180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ModelMetrics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3375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live metrics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288036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81160" y="2880360"/>
            <a:ext cx="91440" cy="8686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297180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AdminPanel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33375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retrain / reimport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1605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Key frontend choices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52628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 Single-Page App with react-router — no reloads between prediction screens.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 axios service module centralises API calls (src/services/api.js).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 Form inputs map directly to the backend feature contract for zero guesswork.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•  Results cards reuse the same layout across all four models.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Neural Network Design — Shared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One proven architecture, four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2004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920240"/>
            <a:ext cx="19202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200" b="0">
                <a:solidFill>
                  <a:srgbClr val="0F172A"/>
                </a:solidFill>
                <a:latin typeface="Calibri"/>
              </a:rPr>
              <a:t>14-15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15768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15768"/>
            <a:ext cx="32004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Dense 128 + BN + Drop 0.3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715768"/>
            <a:ext cx="19202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ReLU · L2(0.001)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11296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511296"/>
            <a:ext cx="32004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Dense 64  + BN + Drop 0.3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511296"/>
            <a:ext cx="19202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ReLU · L2(0.001)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06824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306824"/>
            <a:ext cx="32004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Dense 32  + Drop 0.2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306824"/>
            <a:ext cx="19202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ReLU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102352"/>
            <a:ext cx="32004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Dense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102352"/>
            <a:ext cx="19202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sigmoid / linear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Why this topology?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94560"/>
            <a:ext cx="52120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Funnel widths:</a:t>
            </a:r>
            <a:r>
              <a:rPr sz="1300" b="0">
                <a:solidFill>
                  <a:srgbClr val="0F172A"/>
                </a:solidFill>
                <a:latin typeface="Calibri"/>
              </a:rPr>
              <a:t>  128 → 64 → 32 compresses features gradually.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BatchNorm:</a:t>
            </a:r>
            <a:r>
              <a:rPr sz="1300" b="0">
                <a:solidFill>
                  <a:srgbClr val="0F172A"/>
                </a:solidFill>
                <a:latin typeface="Calibri"/>
              </a:rPr>
              <a:t>  stabilises training, speeds convergence.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Dropout:</a:t>
            </a:r>
            <a:r>
              <a:rPr sz="1300" b="0">
                <a:solidFill>
                  <a:srgbClr val="0F172A"/>
                </a:solidFill>
                <a:latin typeface="Calibri"/>
              </a:rPr>
              <a:t>  0.3 / 0.2 / 0.1 fights overfitting on ~1k rows.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L2 (1e-3):</a:t>
            </a:r>
            <a:r>
              <a:rPr sz="1300" b="0">
                <a:solidFill>
                  <a:srgbClr val="0F172A"/>
                </a:solidFill>
                <a:latin typeface="Calibri"/>
              </a:rPr>
              <a:t>  gentle weight decay on the two large layers.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Head:</a:t>
            </a:r>
            <a:r>
              <a:rPr sz="1300" b="0">
                <a:solidFill>
                  <a:srgbClr val="0F172A"/>
                </a:solidFill>
                <a:latin typeface="Calibri"/>
              </a:rPr>
              <a:t>  sigmoid for classifiers, linear for regressors.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 Optimizer:</a:t>
            </a:r>
            <a:r>
              <a:rPr sz="1300" b="0">
                <a:solidFill>
                  <a:srgbClr val="0F172A"/>
                </a:solidFill>
                <a:latin typeface="Calibri"/>
              </a:rPr>
              <a:t>  Adam @ 1e-3 · reduced on plateau.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Model 1  ·  Persistence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Binary classification: will the student continue past year 1?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33172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1E3A8A"/>
                </a:solidFill>
                <a:latin typeface="Calibri"/>
              </a:rPr>
              <a:t>76.7%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783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1800" y="1783080"/>
            <a:ext cx="233172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920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86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Calibri"/>
              </a:rPr>
              <a:t>87.8%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23317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82.0%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926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71800" y="2926080"/>
            <a:ext cx="23317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3063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429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  <a:latin typeface="Calibri"/>
              </a:rPr>
              <a:t>84.8%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Train / Test: 1149 / 288 samples  ·  Epochs trained: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Inputs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530352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1st &amp; 2nd term GPA · HS avg · math · English · school · funding · residency · age · gender · first language · fast-track · coop · prev. education</a:t>
            </a:r>
          </a:p>
        </p:txBody>
      </p:sp>
      <p:pic>
        <p:nvPicPr>
          <p:cNvPr id="26" name="Picture 25" descr="persistenc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943600" cy="3474720"/>
          </a:xfrm>
          <a:prstGeom prst="rect">
            <a:avLst/>
          </a:prstGeom>
        </p:spPr>
      </p:pic>
      <p:pic>
        <p:nvPicPr>
          <p:cNvPr id="27" name="Picture 26" descr="persistence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00"/>
            <a:ext cx="3200400" cy="1828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Model 2  ·  GPA Regressor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Regression: predict second-term GPA (0.0 - 4.5)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33172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1E3A8A"/>
                </a:solidFill>
                <a:latin typeface="Calibri"/>
              </a:rPr>
              <a:t>0.605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783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1800" y="1783080"/>
            <a:ext cx="233172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920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86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Calibri"/>
              </a:rPr>
              <a:t>0.516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23317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0.660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926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71800" y="2926080"/>
            <a:ext cx="23317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3063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Epochs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429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  <a:latin typeface="Calibri"/>
              </a:rPr>
              <a:t>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Train / Test: 1021 / 256 samples  ·  Epochs trained: 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Inputs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530352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1st term GPA · HS avg · math · English · school · funding · residency · age · gender · first language · fast-track · coop · prev. education</a:t>
            </a:r>
          </a:p>
        </p:txBody>
      </p:sp>
      <p:pic>
        <p:nvPicPr>
          <p:cNvPr id="26" name="Picture 25" descr="gpa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943600" cy="34747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Model 3  ·  At-Risk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Flag students with persistence = 0 OR first-term GPA &lt;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33172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1E3A8A"/>
                </a:solidFill>
                <a:latin typeface="Calibri"/>
              </a:rPr>
              <a:t>85.2%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783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1800" y="1783080"/>
            <a:ext cx="233172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920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86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Calibri"/>
              </a:rPr>
              <a:t>72.7%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23317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72.7%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926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71800" y="2926080"/>
            <a:ext cx="23317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3063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429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  <a:latin typeface="Calibri"/>
              </a:rPr>
              <a:t>72.7%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Train / Test: 1136 / 284 samples  ·  Epochs trained: 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Inputs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530352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1st term GPA · HS avg · math · English · school · funding · residency · age · gender · first language · fast-track · coop · prev. education</a:t>
            </a:r>
          </a:p>
        </p:txBody>
      </p:sp>
      <p:pic>
        <p:nvPicPr>
          <p:cNvPr id="26" name="Picture 25" descr="atrisk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943600" cy="3474720"/>
          </a:xfrm>
          <a:prstGeom prst="rect">
            <a:avLst/>
          </a:prstGeom>
        </p:spPr>
      </p:pic>
      <p:pic>
        <p:nvPicPr>
          <p:cNvPr id="27" name="Picture 26" descr="atrisk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00"/>
            <a:ext cx="3200400" cy="1828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Model 4  ·  Stacked Academic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Stage-2 regression: GPAs + HS + demographics → overall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33172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1E3A8A"/>
                </a:solidFill>
                <a:latin typeface="Calibri"/>
              </a:rPr>
              <a:t>0.958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783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1800" y="1783080"/>
            <a:ext cx="233172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920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86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0EA5E9"/>
                </a:solidFill>
                <a:latin typeface="Calibri"/>
              </a:rPr>
              <a:t>0.139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23317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0.190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92608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71800" y="2926080"/>
            <a:ext cx="23317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306324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Epochs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4290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  <a:latin typeface="Calibri"/>
              </a:rPr>
              <a:t>118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Train / Test: 1021 / 256 samples  ·  Epochs trained: 118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Inputs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530352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1st + 2nd term GPA · HS avg · math · English · plus the full demographic set (14 features total)</a:t>
            </a:r>
          </a:p>
        </p:txBody>
      </p:sp>
      <p:pic>
        <p:nvPicPr>
          <p:cNvPr id="26" name="Picture 25" descr="stacked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943600" cy="34747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Training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Robust training without overfitting the small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EarlyStopping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74066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patience 15-20 on val_loss, restore best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32888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109728" cy="594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32888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ReduceLROnPlateau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32888"/>
            <a:ext cx="74066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halve LR if val_loss stalls 5-7 epochs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36976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236976"/>
            <a:ext cx="109728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236976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Class weights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36976"/>
            <a:ext cx="74066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balance persistence/at-risk imbalance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41064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41064"/>
            <a:ext cx="109728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941064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StandardScaler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941064"/>
            <a:ext cx="74066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fit on train only, applied consistently at inference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45152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645152"/>
            <a:ext cx="109728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645152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Seeded RNGs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645152"/>
            <a:ext cx="74066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Python · NumPy · TensorFlow (SEED = 42) → reproducible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Dropout + L2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349240"/>
            <a:ext cx="74066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regularise the 128/64 layers against tiny-dataset overfit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Results  · 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Evaluation on the held-out 20 % test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f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5760720" cy="2926080"/>
          </a:xfrm>
          <a:prstGeom prst="rect">
            <a:avLst/>
          </a:prstGeom>
        </p:spPr>
      </p:pic>
      <p:pic>
        <p:nvPicPr>
          <p:cNvPr id="8" name="Picture 7" descr="reg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576072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489204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4892040"/>
            <a:ext cx="269748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5029200"/>
            <a:ext cx="2697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Persistence ·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440680"/>
            <a:ext cx="26974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>
                <a:solidFill>
                  <a:srgbClr val="1E3A8A"/>
                </a:solidFill>
                <a:latin typeface="Calibri"/>
              </a:rPr>
              <a:t>84.8%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489204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4892040"/>
            <a:ext cx="269748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5029200"/>
            <a:ext cx="2697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At-Risk ·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440680"/>
            <a:ext cx="26974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  <a:latin typeface="Calibri"/>
              </a:rPr>
              <a:t>85.2%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89204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4892040"/>
            <a:ext cx="269748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5029200"/>
            <a:ext cx="2697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GPA ·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440680"/>
            <a:ext cx="26974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>
                <a:solidFill>
                  <a:srgbClr val="0EA5E9"/>
                </a:solidFill>
                <a:latin typeface="Calibri"/>
              </a:rPr>
              <a:t>0.605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89204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15400" y="4892040"/>
            <a:ext cx="269748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5029200"/>
            <a:ext cx="2697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Stacked · 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5440680"/>
            <a:ext cx="26974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Calibri"/>
              </a:rPr>
              <a:t>0.958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React SPA talking to the Flask REST API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0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8229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745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Data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6712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Filter by school/gender/persistence — hits /api/data/students.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822960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8229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8745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Predict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16712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Fill the form → POST /api/predict/persistence → probability + label.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9748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2697480"/>
            <a:ext cx="822960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8229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889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Predict GPA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08152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Provide 1st-term GPA + HS scores → regression output.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69748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697480"/>
            <a:ext cx="822960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697480"/>
            <a:ext cx="8229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7889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At-Risk Flag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08152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Three-tier: Low / Medium / High risk.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1188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611880"/>
            <a:ext cx="822960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611880"/>
            <a:ext cx="8229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7033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Two-Stage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399592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Stage 1 predicts 2nd-term GPA → fed into Stage 2 score.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61188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3611880"/>
            <a:ext cx="822960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3611880"/>
            <a:ext cx="8229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7033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Admin / Retrain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99592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POST /api/admin/retrain re-fits all 4 models end-to-end.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5303520"/>
            <a:ext cx="109728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30352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💡 Tip for presenters: bring a copy of saved_models/ so the demo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     works even if the venue has no internet. Start backend first, then frontend.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Challenges &amp; How We 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Small data, imbalanced labels, full-stack coordination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09728" cy="7498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Missing values dropped the dataset in 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01952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76272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Impute per-column (median / mode), keep all 1,400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88336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88336"/>
            <a:ext cx="109728" cy="7498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761488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</a:rPr>
              <a:t>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35808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Class imbalance on persistence / at-risk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61488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35808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Compute class_weight on the fly during training.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47872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547872"/>
            <a:ext cx="109728" cy="7498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621024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Calibri"/>
              </a:rP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95344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Overfitting a small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21024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95344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L2, dropout, BatchNorm, EarlyStopping + ReduceLROnPlateau.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07408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407408"/>
            <a:ext cx="109728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Reproducible results for the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480560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754880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Seed Python / NumPy / TensorFlow, restore best weights.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66944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266944"/>
            <a:ext cx="109728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340096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14416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Front-end ↔ back-end contract drift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340096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614416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Single schema for each prediction form, mirrored in services.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Where we would take the app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57784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Model upgrades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1206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Try TabTransformer / gradient-boosted trees for tabular baseline parity.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5778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51206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Per-prediction SHAP values in the UI so advisors see *why*.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82112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182112"/>
            <a:ext cx="557784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EA5E9"/>
                </a:solidFill>
                <a:latin typeface="Calibri"/>
              </a:rPr>
              <a:t>Confidence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22192"/>
            <a:ext cx="51206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Temperature scaling for the two classifiers.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82112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182112"/>
            <a:ext cx="557784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364992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Active learning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22192"/>
            <a:ext cx="51206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Log low-confidence cases → advisor labels them → retrain nightly.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81144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4581144"/>
            <a:ext cx="557784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764024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Auth &amp; auditing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21224"/>
            <a:ext cx="51206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Role-based access for advisor vs. admin; immutable prediction log.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581144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581144"/>
            <a:ext cx="557784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764024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21224"/>
            <a:ext cx="51206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Docker Compose → cloud (Azure/GCP), HTTPS, CI/CD.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519672"/>
            <a:ext cx="12191695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COMP258  ·  Student Success Prediction  ·  Full-Stack Intelligent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200" b="0">
                <a:solidFill>
                  <a:srgbClr val="F59E0B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72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COMP258  ·  Student Success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7729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 dirty="0">
                <a:solidFill>
                  <a:srgbClr val="CBD5E1"/>
                </a:solidFill>
                <a:latin typeface="Calibri"/>
              </a:rPr>
              <a:t>Group:  </a:t>
            </a:r>
            <a:r>
              <a:rPr lang="en-US" sz="1400" dirty="0">
                <a:solidFill>
                  <a:srgbClr val="CBD5E1"/>
                </a:solidFill>
                <a:latin typeface="Calibri"/>
              </a:rPr>
              <a:t>5</a:t>
            </a:r>
            <a:r>
              <a:rPr sz="1400" b="0" dirty="0">
                <a:solidFill>
                  <a:srgbClr val="CBD5E1"/>
                </a:solidFill>
                <a:latin typeface="Calibri"/>
              </a:rPr>
              <a:t>  ·  Week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1875</Words>
  <Application>Microsoft Office PowerPoint</Application>
  <PresentationFormat>Widescreen</PresentationFormat>
  <Paragraphs>384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Nguyễn Minh Đoàn</cp:lastModifiedBy>
  <cp:revision>4</cp:revision>
  <dcterms:created xsi:type="dcterms:W3CDTF">2013-01-27T09:14:16Z</dcterms:created>
  <dcterms:modified xsi:type="dcterms:W3CDTF">2026-04-21T22:58:21Z</dcterms:modified>
  <cp:category/>
</cp:coreProperties>
</file>